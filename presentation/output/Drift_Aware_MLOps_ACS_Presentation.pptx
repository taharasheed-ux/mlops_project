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a27abfd3664b24" /><Relationship Type="http://schemas.openxmlformats.org/officeDocument/2006/relationships/extended-properties" Target="/docProps/app.xml" Id="Rac42403366a342f1" /><Relationship Type="http://schemas.openxmlformats.org/officeDocument/2006/relationships/officeDocument" Target="/ppt/presentation.xml" Id="Rfc1c8ed48579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f1be7f2da74ffc"/>
  </p:sldMasterIdLst>
  <p:notesMasterIdLst>
    <p:notesMasterId xmlns:r="http://schemas.openxmlformats.org/officeDocument/2006/relationships" r:id="R4d82569baea542fe"/>
  </p:notesMasterIdLst>
  <p:sldIdLst>
    <p:sldId xmlns:r="http://schemas.openxmlformats.org/officeDocument/2006/relationships" id="256" r:id="R7341cef7d69a4fb2"/>
    <p:sldId xmlns:r="http://schemas.openxmlformats.org/officeDocument/2006/relationships" id="257" r:id="Rcbd2c55cbc984552"/>
    <p:sldId xmlns:r="http://schemas.openxmlformats.org/officeDocument/2006/relationships" id="258" r:id="R2284ac5e473e4ec9"/>
    <p:sldId xmlns:r="http://schemas.openxmlformats.org/officeDocument/2006/relationships" id="259" r:id="Race8e4141d8b4ac4"/>
    <p:sldId xmlns:r="http://schemas.openxmlformats.org/officeDocument/2006/relationships" id="260" r:id="R5e25c1aca2f9428e"/>
    <p:sldId xmlns:r="http://schemas.openxmlformats.org/officeDocument/2006/relationships" id="261" r:id="R773bafca8bdc4c55"/>
    <p:sldId xmlns:r="http://schemas.openxmlformats.org/officeDocument/2006/relationships" id="262" r:id="R325a1e27e2a8406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1be7f2da74ffc" /><Relationship Type="http://schemas.openxmlformats.org/officeDocument/2006/relationships/theme" Target="/ppt/theme/theme1.xml" Id="Rf89dc4e32af84e22" /><Relationship Type="http://schemas.openxmlformats.org/officeDocument/2006/relationships/notesMaster" Target="/ppt/notesMasters/notesMaster1.xml" Id="R4d82569baea542fe" /><Relationship Type="http://schemas.openxmlformats.org/officeDocument/2006/relationships/presProps" Target="/ppt/presProps.xml" Id="Rcd8c65263a874ab5" /><Relationship Type="http://schemas.openxmlformats.org/officeDocument/2006/relationships/viewProps" Target="/ppt/viewProps.xml" Id="R972107ad444d4231" /><Relationship Type="http://schemas.openxmlformats.org/officeDocument/2006/relationships/tableStyles" Target="/ppt/tableStyles.xml" Id="R6ba18238bd20479c" /><Relationship Type="http://schemas.openxmlformats.org/officeDocument/2006/relationships/slide" Target="/ppt/slides/slide1.xml" Id="R7341cef7d69a4fb2" /><Relationship Type="http://schemas.openxmlformats.org/officeDocument/2006/relationships/slide" Target="/ppt/slides/slide2.xml" Id="Rcbd2c55cbc984552" /><Relationship Type="http://schemas.openxmlformats.org/officeDocument/2006/relationships/slide" Target="/ppt/slides/slide3.xml" Id="R2284ac5e473e4ec9" /><Relationship Type="http://schemas.openxmlformats.org/officeDocument/2006/relationships/slide" Target="/ppt/slides/slide4.xml" Id="Race8e4141d8b4ac4" /><Relationship Type="http://schemas.openxmlformats.org/officeDocument/2006/relationships/slide" Target="/ppt/slides/slide5.xml" Id="R5e25c1aca2f9428e" /><Relationship Type="http://schemas.openxmlformats.org/officeDocument/2006/relationships/slide" Target="/ppt/slides/slide6.xml" Id="R773bafca8bdc4c55" /><Relationship Type="http://schemas.openxmlformats.org/officeDocument/2006/relationships/slide" Target="/ppt/slides/slide7.xml" Id="R325a1e27e2a840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8543c316744b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33686bc46c47b4" /><Relationship Type="http://schemas.openxmlformats.org/officeDocument/2006/relationships/notesMaster" Target="/ppt/notesMasters/notesMaster1.xml" Id="Ra544e689b0614d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60faed06894748" /><Relationship Type="http://schemas.openxmlformats.org/officeDocument/2006/relationships/notesMaster" Target="/ppt/notesMasters/notesMaster1.xml" Id="R4e3f4ab621ad46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abae6fd204484e" /><Relationship Type="http://schemas.openxmlformats.org/officeDocument/2006/relationships/notesMaster" Target="/ppt/notesMasters/notesMaster1.xml" Id="Re3cf85810d1549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aa74ec5d444139" /><Relationship Type="http://schemas.openxmlformats.org/officeDocument/2006/relationships/notesMaster" Target="/ppt/notesMasters/notesMaster1.xml" Id="Rffcf0391590b43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b168ce3c66403f" /><Relationship Type="http://schemas.openxmlformats.org/officeDocument/2006/relationships/notesMaster" Target="/ppt/notesMasters/notesMaster1.xml" Id="R23474380ac3040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10c99ff4a440d6" /><Relationship Type="http://schemas.openxmlformats.org/officeDocument/2006/relationships/notesMaster" Target="/ppt/notesMasters/notesMaster1.xml" Id="Re2a946274d9444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064c8c826b4b7a" /><Relationship Type="http://schemas.openxmlformats.org/officeDocument/2006/relationships/notesMaster" Target="/ppt/notesMasters/notesMaster1.xml" Id="Rf85ea44e68464b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0bb3d4923417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ab3fec0ea1542b6" /><Relationship Type="http://schemas.openxmlformats.org/officeDocument/2006/relationships/slideLayout" Target="/ppt/slideLayouts/slideLayout2.xml" Id="R812d2aae4f9a42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2d2aae4f9a42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ed39ae1e764aee" /><Relationship Type="http://schemas.openxmlformats.org/officeDocument/2006/relationships/notesSlide" Target="/ppt/notesSlides/notesSlide1.xml" Id="R183100c5d1fe49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94a57d27b240f1" /><Relationship Type="http://schemas.openxmlformats.org/officeDocument/2006/relationships/notesSlide" Target="/ppt/notesSlides/notesSlide2.xml" Id="Ref33558448664c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89368e180b4153" /><Relationship Type="http://schemas.openxmlformats.org/officeDocument/2006/relationships/notesSlide" Target="/ppt/notesSlides/notesSlide3.xml" Id="R4192f838242744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5e4c859ace4fc6" /><Relationship Type="http://schemas.openxmlformats.org/officeDocument/2006/relationships/notesSlide" Target="/ppt/notesSlides/notesSlide4.xml" Id="R8a313fcf10534b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103a594db24e27" /><Relationship Type="http://schemas.openxmlformats.org/officeDocument/2006/relationships/chart" Target="/ppt/slides/charts/chart1.xml" Id="Raf5da586c0dd4487" /><Relationship Type="http://schemas.openxmlformats.org/officeDocument/2006/relationships/notesSlide" Target="/ppt/notesSlides/notesSlide5.xml" Id="R517e64008a514a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170c1636e24fba" /><Relationship Type="http://schemas.openxmlformats.org/officeDocument/2006/relationships/image" Target="/ppt/media/image.png" Id="R34ce5c0162084783" /><Relationship Type="http://schemas.openxmlformats.org/officeDocument/2006/relationships/notesSlide" Target="/ppt/notesSlides/notesSlide6.xml" Id="Rcf0320005cd14b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a15125f8c64b89" /><Relationship Type="http://schemas.openxmlformats.org/officeDocument/2006/relationships/notesSlide" Target="/ppt/notesSlides/notesSlide7.xml" Id="R9df736cbf9114f9c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Batch 12 F1 and Accuracy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F1</c:v>
          </c:tx>
          <c:cat>
            <c:strLit>
              <c:ptCount val="3"/>
              <c:pt idx="0">
                <c:v>Static</c:v>
              </c:pt>
              <c:pt idx="1">
                <c:v>Immediate</c:v>
              </c:pt>
              <c:pt idx="2">
                <c:v>Policy</c:v>
              </c:pt>
            </c:strLit>
          </c:cat>
          <c:val>
            <c:numLit>
              <c:formatCode/>
              <c:ptCount val="3"/>
              <c:pt idx="0">
                <c:v>0.71</c:v>
              </c:pt>
              <c:pt idx="1">
                <c:v>0.732</c:v>
              </c:pt>
              <c:pt idx="2">
                <c:v>0.734</c:v>
              </c:pt>
            </c:numLit>
          </c:val>
        </c:ser>
        <c:ser>
          <c:idx val="1"/>
          <c:order val="1"/>
          <c:tx>
            <c:v>Accuracy</c:v>
          </c:tx>
          <c:cat>
            <c:strLit>
              <c:ptCount val="3"/>
              <c:pt idx="0">
                <c:v>Static</c:v>
              </c:pt>
              <c:pt idx="1">
                <c:v>Immediate</c:v>
              </c:pt>
              <c:pt idx="2">
                <c:v>Policy</c:v>
              </c:pt>
            </c:strLit>
          </c:cat>
          <c:val>
            <c:numLit>
              <c:formatCode/>
              <c:ptCount val="3"/>
              <c:pt idx="0">
                <c:v>0.73</c:v>
              </c:pt>
              <c:pt idx="1">
                <c:v>0.778</c:v>
              </c:pt>
              <c:pt idx="2">
                <c:v>0.783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61F2563-54DF-44E5-A355-B89D4D8B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>
            <a:solidFill>
              <a:srgbClr val="F8F4EA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69657EC-6191-4E08-B1C6-C5B6E40B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830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6B5A"/>
                </a:solidFill>
              </a:defRPr>
            </a:pPr>
            <a:r>
              <a:rPr sz="1425" b="1">
                <a:solidFill>
                  <a:srgbClr val="0B6B5A"/>
                </a:solidFill>
              </a:rPr>
              <a:t>WHEN DOES ADAPTIVE RETRAINING HELP?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6DA50B0-45A1-478B-ADA6-A5AF3D9C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7867650" cy="2305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025" b="0">
                <a:solidFill>
                  <a:srgbClr val="111827"/>
                </a:solidFill>
              </a:defRPr>
            </a:pPr>
            <a:r>
              <a:rPr sz="5025" b="0">
                <a:solidFill>
                  <a:srgbClr val="111827"/>
                </a:solidFill>
              </a:rPr>
              <a:t>A Drift-Aware MLOps Study on Multi-Year ACS Income Data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A1B5E28-7283-4CED-9251-88A35EEE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71056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36171"/>
                </a:solidFill>
              </a:defRPr>
            </a:pPr>
            <a:r>
              <a:rPr sz="1950">
                <a:solidFill>
                  <a:srgbClr val="536171"/>
                </a:solidFill>
              </a:rPr>
              <a:t>End-to-end ML pipeline with experiment tracking, CI/CD, containerized serving, monitoring, and adaptive retraining under dataset shift.</a:t>
            </a:r>
          </a:p>
        </p:txBody>
      </p:sp>
      <p:sp>
        <p:nvSpPr>
          <p:cNvPr id="5" name="authors">
            <a:extLst xmlns:a="http://schemas.openxmlformats.org/drawingml/2006/main">
              <a:ext uri="{FF2B5EF4-FFF2-40B4-BE49-F238E27FC236}">
                <a16:creationId xmlns:a16="http://schemas.microsoft.com/office/drawing/2014/main" id="{99607AF3-EB22-476A-992A-FD6490B8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010650"/>
            <a:ext cx="8305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Taha Rasheed | Hamza Zahid | Hasnat Noor</a:t>
            </a:r>
          </a:p>
        </p:txBody>
      </p:sp>
      <p:sp>
        <p:nvSpPr>
          <p:cNvPr id="6" name="affiliation">
            <a:extLst xmlns:a="http://schemas.openxmlformats.org/drawingml/2006/main">
              <a:ext uri="{FF2B5EF4-FFF2-40B4-BE49-F238E27FC236}">
                <a16:creationId xmlns:a16="http://schemas.microsoft.com/office/drawing/2014/main" id="{A2A62D42-DE68-4CD4-8970-9F45E852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830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National University of Computers and Emerging Sciences, ISB</a:t>
            </a:r>
          </a:p>
        </p:txBody>
      </p:sp>
      <p:sp>
        <p:nvSpPr>
          <p:cNvPr id="7" name="cover-plane">
            <a:extLst xmlns:a="http://schemas.openxmlformats.org/drawingml/2006/main">
              <a:ext uri="{FF2B5EF4-FFF2-40B4-BE49-F238E27FC236}">
                <a16:creationId xmlns:a16="http://schemas.microsoft.com/office/drawing/2014/main" id="{A5205D75-4C6E-484F-A948-027140AA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85800"/>
            <a:ext cx="7848600" cy="899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>
            <a:solidFill>
              <a:srgbClr val="10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7F290-3F03-46F1-A04C-53A0C3FB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133600"/>
            <a:ext cx="135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BD8FF"/>
                </a:solidFill>
              </a:defRPr>
            </a:pPr>
            <a:r>
              <a:rPr sz="1500" b="1">
                <a:solidFill>
                  <a:srgbClr val="BBD8FF"/>
                </a:solidFill>
              </a:rPr>
              <a:t>STATIC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5DC45-811B-433A-BC3B-BF0CB4E7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C8F"/>
          </a:solidFill>
          <a:ln xmlns:a="http://schemas.openxmlformats.org/drawingml/2006/main">
            <a:solidFill>
              <a:srgbClr val="4E6C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A80C4-DA2B-4F23-A2EA-B2BF725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211455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BD8FF"/>
                </a:solidFill>
              </a:defRPr>
            </a:pPr>
            <a:r>
              <a:rPr sz="1800" b="1">
                <a:solidFill>
                  <a:srgbClr val="BBD8FF"/>
                </a:solidFill>
              </a:rPr>
              <a:t>0.710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2A5F0-77D2-4654-9A86-ADA86BAA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57650"/>
            <a:ext cx="135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3D3"/>
                </a:solidFill>
              </a:defRPr>
            </a:pPr>
            <a:r>
              <a:rPr sz="1500" b="1">
                <a:solidFill>
                  <a:srgbClr val="B8E3D3"/>
                </a:solidFill>
              </a:rPr>
              <a:t>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9E4AF-0F32-49EF-8E8D-6FB4C666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1480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3D3"/>
          </a:solidFill>
          <a:ln xmlns:a="http://schemas.openxmlformats.org/drawingml/2006/main">
            <a:solidFill>
              <a:srgbClr val="B8E3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3B8B7-65EC-4BA0-BB73-401331A5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403860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E3D3"/>
                </a:solidFill>
              </a:defRPr>
            </a:pPr>
            <a:r>
              <a:rPr sz="1800" b="1">
                <a:solidFill>
                  <a:srgbClr val="B8E3D3"/>
                </a:solidFill>
              </a:rPr>
              <a:t>0.734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AD258-E62F-4341-9C3E-B78BEC84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000750"/>
            <a:ext cx="135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7A538"/>
                </a:solidFill>
              </a:defRPr>
            </a:pPr>
            <a:r>
              <a:rPr sz="1500" b="1">
                <a:solidFill>
                  <a:srgbClr val="E7A538"/>
                </a:solidFill>
              </a:rPr>
              <a:t>DRIFT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7B621-C6D9-44D5-9666-EC43796F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0960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538"/>
          </a:solidFill>
          <a:ln xmlns:a="http://schemas.openxmlformats.org/drawingml/2006/main">
            <a:solidFill>
              <a:srgbClr val="E7A5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5C442-8E44-4DB6-A986-32821086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59817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A538"/>
                </a:solidFill>
              </a:defRPr>
            </a:pPr>
            <a:r>
              <a:rPr sz="1800" b="1">
                <a:solidFill>
                  <a:srgbClr val="E7A538"/>
                </a:solidFill>
              </a:rPr>
              <a:t>12 batches</a:t>
            </a:r>
          </a:p>
        </p:txBody>
      </p:sp>
      <p:sp>
        <p:nvSpPr>
          <p:cNvPr id="17" name="cover-art-caption">
            <a:extLst xmlns:a="http://schemas.openxmlformats.org/drawingml/2006/main">
              <a:ext uri="{FF2B5EF4-FFF2-40B4-BE49-F238E27FC236}">
                <a16:creationId xmlns:a16="http://schemas.microsoft.com/office/drawing/2014/main" id="{F8E21137-DF24-496F-984A-C87707EF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181850"/>
            <a:ext cx="649605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The core result: retraining helps when the new regime is learnable, not when drift is synthetic label noise.</a:t>
            </a:r>
          </a:p>
        </p:txBody>
      </p:sp>
    </p:spTree>
    <p:extLst>
      <p:ext uri="{BB962C8B-B14F-4D97-AF65-F5344CB8AC3E}">
        <p14:creationId xmlns:p14="http://schemas.microsoft.com/office/powerpoint/2010/main" val="6017548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C3AA51B-C4CB-4937-AD0F-D7122381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4EF6B07-289B-40C1-A006-032242D5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6B5A"/>
                </a:solidFill>
              </a:defRPr>
            </a:pPr>
            <a:r>
              <a:rPr sz="1350" b="1">
                <a:solidFill>
                  <a:srgbClr val="0B6B5A"/>
                </a:solidFill>
              </a:rPr>
              <a:t>RESEARCH PROBLEM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1F4DF4-F9A7-448A-ADC3-CA719D9D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16014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111827"/>
                </a:solidFill>
              </a:defRPr>
            </a:pPr>
            <a:r>
              <a:rPr sz="4200" b="0">
                <a:solidFill>
                  <a:srgbClr val="111827"/>
                </a:solidFill>
              </a:rPr>
              <a:t>Static models decay quietly when the data-generating world moves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E6F98C-8043-4F66-BB5E-FAF2A10F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1068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We studied whether monitored, policy-gated retraining can recover performance without retraining on every alert.</a:t>
            </a:r>
          </a:p>
        </p:txBody>
      </p:sp>
      <p:sp>
        <p:nvSpPr>
          <p:cNvPr id="5" name="step-dot-A">
            <a:extLst xmlns:a="http://schemas.openxmlformats.org/drawingml/2006/main">
              <a:ext uri="{FF2B5EF4-FFF2-40B4-BE49-F238E27FC236}">
                <a16:creationId xmlns:a16="http://schemas.microsoft.com/office/drawing/2014/main" id="{8046B25A-21F4-4DDA-A636-176C3DF8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57A6"/>
          </a:solidFill>
          <a:ln xmlns:a="http://schemas.openxmlformats.org/drawingml/2006/main">
            <a:solidFill>
              <a:srgbClr val="2357A6"/>
            </a:solidFill>
            <a:prstDash val="solid"/>
          </a:ln>
        </p:spPr>
      </p:sp>
      <p:sp>
        <p:nvSpPr>
          <p:cNvPr id="6" name="step-heading-A">
            <a:extLst xmlns:a="http://schemas.openxmlformats.org/drawingml/2006/main">
              <a:ext uri="{FF2B5EF4-FFF2-40B4-BE49-F238E27FC236}">
                <a16:creationId xmlns:a16="http://schemas.microsoft.com/office/drawing/2014/main" id="{C82B04BC-E33C-4739-B4C4-1876D76F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71800"/>
            <a:ext cx="838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A. Dataset shift</a:t>
            </a:r>
          </a:p>
        </p:txBody>
      </p:sp>
      <p:sp>
        <p:nvSpPr>
          <p:cNvPr id="7" name="step-body-A">
            <a:extLst xmlns:a="http://schemas.openxmlformats.org/drawingml/2006/main">
              <a:ext uri="{FF2B5EF4-FFF2-40B4-BE49-F238E27FC236}">
                <a16:creationId xmlns:a16="http://schemas.microsoft.com/office/drawing/2014/main" id="{BDCCA56C-8906-48FC-988E-6C15D2B7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95650"/>
            <a:ext cx="5276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The input distribution changes across ACS years and simulated batch regimes.</a:t>
            </a:r>
          </a:p>
        </p:txBody>
      </p:sp>
      <p:sp>
        <p:nvSpPr>
          <p:cNvPr id="8" name="step-dot-B">
            <a:extLst xmlns:a="http://schemas.openxmlformats.org/drawingml/2006/main">
              <a:ext uri="{FF2B5EF4-FFF2-40B4-BE49-F238E27FC236}">
                <a16:creationId xmlns:a16="http://schemas.microsoft.com/office/drawing/2014/main" id="{FE830268-CA7A-41D9-B438-5DFF8126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538"/>
          </a:solidFill>
          <a:ln xmlns:a="http://schemas.openxmlformats.org/drawingml/2006/main">
            <a:solidFill>
              <a:srgbClr val="E7A538"/>
            </a:solidFill>
            <a:prstDash val="solid"/>
          </a:ln>
        </p:spPr>
      </p:sp>
      <p:sp>
        <p:nvSpPr>
          <p:cNvPr id="9" name="step-heading-B">
            <a:extLst xmlns:a="http://schemas.openxmlformats.org/drawingml/2006/main">
              <a:ext uri="{FF2B5EF4-FFF2-40B4-BE49-F238E27FC236}">
                <a16:creationId xmlns:a16="http://schemas.microsoft.com/office/drawing/2014/main" id="{20F567C0-821C-4C5D-8299-2F24871D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838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B. Concept signal</a:t>
            </a:r>
          </a:p>
        </p:txBody>
      </p:sp>
      <p:sp>
        <p:nvSpPr>
          <p:cNvPr id="10" name="step-body-B">
            <a:extLst xmlns:a="http://schemas.openxmlformats.org/drawingml/2006/main">
              <a:ext uri="{FF2B5EF4-FFF2-40B4-BE49-F238E27FC236}">
                <a16:creationId xmlns:a16="http://schemas.microsoft.com/office/drawing/2014/main" id="{2DF8539E-7E39-4215-8B75-AC15ABF3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5200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Labels and performance are monitored to distinguish harmless drift from harmful degradation.</a:t>
            </a:r>
          </a:p>
        </p:txBody>
      </p:sp>
      <p:sp>
        <p:nvSpPr>
          <p:cNvPr id="11" name="step-dot-C">
            <a:extLst xmlns:a="http://schemas.openxmlformats.org/drawingml/2006/main">
              <a:ext uri="{FF2B5EF4-FFF2-40B4-BE49-F238E27FC236}">
                <a16:creationId xmlns:a16="http://schemas.microsoft.com/office/drawing/2014/main" id="{7295911C-FC9C-4FAF-9255-F51B5BBB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B5A"/>
          </a:solidFill>
          <a:ln xmlns:a="http://schemas.openxmlformats.org/drawingml/2006/main">
            <a:solidFill>
              <a:srgbClr val="0B6B5A"/>
            </a:solidFill>
            <a:prstDash val="solid"/>
          </a:ln>
        </p:spPr>
      </p:sp>
      <p:sp>
        <p:nvSpPr>
          <p:cNvPr id="12" name="step-heading-C">
            <a:extLst xmlns:a="http://schemas.openxmlformats.org/drawingml/2006/main">
              <a:ext uri="{FF2B5EF4-FFF2-40B4-BE49-F238E27FC236}">
                <a16:creationId xmlns:a16="http://schemas.microsoft.com/office/drawing/2014/main" id="{E5A8D0D4-2E70-4526-9D01-326454DC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67300"/>
            <a:ext cx="838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C. Retraining decision</a:t>
            </a:r>
          </a:p>
        </p:txBody>
      </p:sp>
      <p:sp>
        <p:nvSpPr>
          <p:cNvPr id="13" name="step-body-C">
            <a:extLst xmlns:a="http://schemas.openxmlformats.org/drawingml/2006/main">
              <a:ext uri="{FF2B5EF4-FFF2-40B4-BE49-F238E27FC236}">
                <a16:creationId xmlns:a16="http://schemas.microsoft.com/office/drawing/2014/main" id="{0A1E3151-4AF4-4A23-8445-40CA18DC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91150"/>
            <a:ext cx="4972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Policy decides whether new labeled batches justify replacing the deployed model.</a:t>
            </a:r>
          </a:p>
        </p:txBody>
      </p:sp>
      <p:sp>
        <p:nvSpPr>
          <p:cNvPr id="14" name="metric-value-Static batch-12 F1">
            <a:extLst xmlns:a="http://schemas.openxmlformats.org/drawingml/2006/main">
              <a:ext uri="{FF2B5EF4-FFF2-40B4-BE49-F238E27FC236}">
                <a16:creationId xmlns:a16="http://schemas.microsoft.com/office/drawing/2014/main" id="{91CB14F1-6450-42DE-B98B-D51E7819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38650"/>
            <a:ext cx="70866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D9654F"/>
                </a:solidFill>
              </a:defRPr>
            </a:pPr>
            <a:r>
              <a:rPr sz="4950" b="1">
                <a:solidFill>
                  <a:srgbClr val="D9654F"/>
                </a:solidFill>
              </a:rPr>
              <a:t>0.710</a:t>
            </a:r>
          </a:p>
        </p:txBody>
      </p:sp>
      <p:sp>
        <p:nvSpPr>
          <p:cNvPr id="15" name="metric-label-Static batch-12 F1">
            <a:extLst xmlns:a="http://schemas.openxmlformats.org/drawingml/2006/main">
              <a:ext uri="{FF2B5EF4-FFF2-40B4-BE49-F238E27FC236}">
                <a16:creationId xmlns:a16="http://schemas.microsoft.com/office/drawing/2014/main" id="{87C60C9B-00D3-4494-A762-F0584BF6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57800"/>
            <a:ext cx="7086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STATIC BATCH-12 F1</a:t>
            </a:r>
          </a:p>
        </p:txBody>
      </p:sp>
      <p:sp>
        <p:nvSpPr>
          <p:cNvPr id="16" name="metric-note-Static batch-12 F1">
            <a:extLst xmlns:a="http://schemas.openxmlformats.org/drawingml/2006/main">
              <a:ext uri="{FF2B5EF4-FFF2-40B4-BE49-F238E27FC236}">
                <a16:creationId xmlns:a16="http://schemas.microsoft.com/office/drawing/2014/main" id="{CF543402-B2CD-4310-A7EF-27B1A61E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86400"/>
            <a:ext cx="3314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171"/>
                </a:solidFill>
              </a:defRPr>
            </a:pPr>
            <a:r>
              <a:rPr sz="1425">
                <a:solidFill>
                  <a:srgbClr val="536171"/>
                </a:solidFill>
              </a:rPr>
              <a:t>Final batch performance after sustained drift.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ED7CA-DCD8-4592-B04A-F91D33BE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9245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7"/>
          </a:solidFill>
          <a:ln xmlns:a="http://schemas.openxmlformats.org/drawingml/2006/main" w="0">
            <a:solidFill>
              <a:srgbClr val="D6DEE7"/>
            </a:solidFill>
            <a:prstDash val="solid"/>
          </a:ln>
        </p:spPr>
      </p:sp>
      <p:sp>
        <p:nvSpPr>
          <p:cNvPr id="18" name="metric-value-Policy batch-12 F1">
            <a:extLst xmlns:a="http://schemas.openxmlformats.org/drawingml/2006/main">
              <a:ext uri="{FF2B5EF4-FFF2-40B4-BE49-F238E27FC236}">
                <a16:creationId xmlns:a16="http://schemas.microsoft.com/office/drawing/2014/main" id="{30492FAC-BD7A-48DA-B634-4BC8729B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172200"/>
            <a:ext cx="70866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B6B5A"/>
                </a:solidFill>
              </a:defRPr>
            </a:pPr>
            <a:r>
              <a:rPr sz="4950" b="1">
                <a:solidFill>
                  <a:srgbClr val="0B6B5A"/>
                </a:solidFill>
              </a:rPr>
              <a:t>0.734</a:t>
            </a:r>
          </a:p>
        </p:txBody>
      </p:sp>
      <p:sp>
        <p:nvSpPr>
          <p:cNvPr id="19" name="metric-label-Policy batch-12 F1">
            <a:extLst xmlns:a="http://schemas.openxmlformats.org/drawingml/2006/main">
              <a:ext uri="{FF2B5EF4-FFF2-40B4-BE49-F238E27FC236}">
                <a16:creationId xmlns:a16="http://schemas.microsoft.com/office/drawing/2014/main" id="{2AF35DFA-FCC3-4D16-836D-A6AB604E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991350"/>
            <a:ext cx="7086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POLICY BATCH-12 F1</a:t>
            </a:r>
          </a:p>
        </p:txBody>
      </p:sp>
      <p:sp>
        <p:nvSpPr>
          <p:cNvPr id="20" name="metric-note-Policy batch-12 F1">
            <a:extLst xmlns:a="http://schemas.openxmlformats.org/drawingml/2006/main">
              <a:ext uri="{FF2B5EF4-FFF2-40B4-BE49-F238E27FC236}">
                <a16:creationId xmlns:a16="http://schemas.microsoft.com/office/drawing/2014/main" id="{74C9755A-71DE-4C69-8238-14B7917F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219950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171"/>
                </a:solidFill>
              </a:defRPr>
            </a:pPr>
            <a:r>
              <a:rPr sz="1425">
                <a:solidFill>
                  <a:srgbClr val="536171"/>
                </a:solidFill>
              </a:rPr>
              <a:t>Recovered by adapting to recent batches.</a:t>
            </a:r>
          </a:p>
        </p:txBody>
      </p:sp>
      <p:sp>
        <p:nvSpPr>
          <p:cNvPr id="2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E647610-24C2-499F-B3AE-59AC6FAB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2819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1"/>
                </a:solidFill>
              </a:defRPr>
            </a:pPr>
            <a:r>
              <a:rPr sz="1275">
                <a:solidFill>
                  <a:srgbClr val="536171"/>
                </a:solidFill>
              </a:rPr>
              <a:t>Problem framing and final ACS batch signal</a:t>
            </a:r>
          </a:p>
        </p:txBody>
      </p:sp>
      <p:sp>
        <p:nvSpPr>
          <p:cNvPr id="22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691FC12E-0979-42FF-A9BF-D5F5B636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525000"/>
            <a:ext cx="3086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1"/>
                </a:solidFill>
              </a:defRPr>
            </a:pPr>
            <a:r>
              <a:rPr sz="1275">
                <a:solidFill>
                  <a:srgbClr val="536171"/>
                </a:solidFill>
              </a:rPr>
              <a:t>Drift-Aware MLOps Pipeline | ACS Income Data</a:t>
            </a:r>
          </a:p>
        </p:txBody>
      </p:sp>
    </p:spTree>
    <p:extLst>
      <p:ext uri="{BB962C8B-B14F-4D97-AF65-F5344CB8AC3E}">
        <p14:creationId xmlns:p14="http://schemas.microsoft.com/office/powerpoint/2010/main" val="2689697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FE9D6B4-95DE-4937-874C-97DBC254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>
            <a:solidFill>
              <a:srgbClr val="F8F4EA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FF36748-3719-484A-99C0-D43FE714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6B5A"/>
                </a:solidFill>
              </a:defRPr>
            </a:pPr>
            <a:r>
              <a:rPr sz="1350" b="1">
                <a:solidFill>
                  <a:srgbClr val="0B6B5A"/>
                </a:solidFill>
              </a:rPr>
              <a:t>END-TO-END IMPLEMENTATION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327EA4-0E2A-4786-8896-0B10BA0F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3486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111827"/>
                </a:solidFill>
              </a:defRPr>
            </a:pPr>
            <a:r>
              <a:rPr sz="4200" b="0">
                <a:solidFill>
                  <a:srgbClr val="111827"/>
                </a:solidFill>
              </a:rPr>
              <a:t>Full MLOps loop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9011A63-E68A-41E8-B0D0-999011FF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1144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Not only a model: data processing, XGBoost training, drift detection, policy retraining, serving, tracking, monitoring, and CI/CD are integrated.</a:t>
            </a:r>
          </a:p>
        </p:txBody>
      </p:sp>
      <p:sp>
        <p:nvSpPr>
          <p:cNvPr id="5" name="data-box-rule">
            <a:extLst xmlns:a="http://schemas.openxmlformats.org/drawingml/2006/main">
              <a:ext uri="{FF2B5EF4-FFF2-40B4-BE49-F238E27FC236}">
                <a16:creationId xmlns:a16="http://schemas.microsoft.com/office/drawing/2014/main" id="{9579521B-4AC0-4116-9CE8-CA912708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A6"/>
          </a:solidFill>
          <a:ln xmlns:a="http://schemas.openxmlformats.org/drawingml/2006/main">
            <a:solidFill>
              <a:srgbClr val="2357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3E83A-F0BB-48EB-8649-4AA19B27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Data +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66239-C743-48EE-AD9A-AAB90899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171"/>
                </a:solidFill>
              </a:defRPr>
            </a:pPr>
            <a:r>
              <a:rPr sz="1650">
                <a:solidFill>
                  <a:srgbClr val="536171"/>
                </a:solidFill>
              </a:rPr>
              <a:t>Adult + multi-year ACS/Folktables; temporal split; 4.8M processed ACS rows.</a:t>
            </a:r>
          </a:p>
        </p:txBody>
      </p:sp>
      <p:sp>
        <p:nvSpPr>
          <p:cNvPr id="8" name="train-box-rule">
            <a:extLst xmlns:a="http://schemas.openxmlformats.org/drawingml/2006/main">
              <a:ext uri="{FF2B5EF4-FFF2-40B4-BE49-F238E27FC236}">
                <a16:creationId xmlns:a16="http://schemas.microsoft.com/office/drawing/2014/main" id="{9DA63CD4-B1D5-462B-B4AB-F4EC837E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A"/>
          </a:solidFill>
          <a:ln xmlns:a="http://schemas.openxmlformats.org/drawingml/2006/main">
            <a:solidFill>
              <a:srgbClr val="0B6B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C8EF0-AD4F-4703-BB47-EA4B3C17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AD4A7-94E9-4D58-A1B8-FD2C0C97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1470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171"/>
                </a:solidFill>
              </a:defRPr>
            </a:pPr>
            <a:r>
              <a:rPr sz="1650">
                <a:solidFill>
                  <a:srgbClr val="536171"/>
                </a:solidFill>
              </a:rPr>
              <a:t>XGBoost with CPU/GPU support; encoders and model artifacts saved for serving.</a:t>
            </a:r>
          </a:p>
        </p:txBody>
      </p:sp>
      <p:sp>
        <p:nvSpPr>
          <p:cNvPr id="11" name="drift-box-rule">
            <a:extLst xmlns:a="http://schemas.openxmlformats.org/drawingml/2006/main">
              <a:ext uri="{FF2B5EF4-FFF2-40B4-BE49-F238E27FC236}">
                <a16:creationId xmlns:a16="http://schemas.microsoft.com/office/drawing/2014/main" id="{21BE100E-26EF-47D1-BAA7-3B6D007D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743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538"/>
          </a:solidFill>
          <a:ln xmlns:a="http://schemas.openxmlformats.org/drawingml/2006/main">
            <a:solidFill>
              <a:srgbClr val="E7A5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213B8-E5DE-4ACE-BEFA-0B940D14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8765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Drift +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86CAC-E87C-4683-A5A2-12775562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31470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171"/>
                </a:solidFill>
              </a:defRPr>
            </a:pPr>
            <a:r>
              <a:rPr sz="1650">
                <a:solidFill>
                  <a:srgbClr val="536171"/>
                </a:solidFill>
              </a:rPr>
              <a:t>KS / chi-square tests, severity scoring, concept-drift gates, rolling retraining windows.</a:t>
            </a:r>
          </a:p>
        </p:txBody>
      </p:sp>
      <p:sp>
        <p:nvSpPr>
          <p:cNvPr id="14" name="serve-box-rule">
            <a:extLst xmlns:a="http://schemas.openxmlformats.org/drawingml/2006/main">
              <a:ext uri="{FF2B5EF4-FFF2-40B4-BE49-F238E27FC236}">
                <a16:creationId xmlns:a16="http://schemas.microsoft.com/office/drawing/2014/main" id="{D48EEC06-83F8-41BF-BFB2-07E6945F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54F"/>
          </a:solidFill>
          <a:ln xmlns:a="http://schemas.openxmlformats.org/drawingml/2006/main">
            <a:solidFill>
              <a:srgbClr val="D965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0E12D-3325-45F0-BA8C-F02752F0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674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4DCEE-911D-4C38-846A-D00BA910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8655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171"/>
                </a:solidFill>
              </a:defRPr>
            </a:pPr>
            <a:r>
              <a:rPr sz="1650">
                <a:solidFill>
                  <a:srgbClr val="536171"/>
                </a:solidFill>
              </a:rPr>
              <a:t>Prediction API, health endpoint, model reload, and Prometheus `/metrics`.</a:t>
            </a:r>
          </a:p>
        </p:txBody>
      </p:sp>
      <p:sp>
        <p:nvSpPr>
          <p:cNvPr id="17" name="track-box-rule">
            <a:extLst xmlns:a="http://schemas.openxmlformats.org/drawingml/2006/main">
              <a:ext uri="{FF2B5EF4-FFF2-40B4-BE49-F238E27FC236}">
                <a16:creationId xmlns:a16="http://schemas.microsoft.com/office/drawing/2014/main" id="{777F9CE2-16BA-44B8-96CB-403D1274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0960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A6"/>
          </a:solidFill>
          <a:ln xmlns:a="http://schemas.openxmlformats.org/drawingml/2006/main">
            <a:solidFill>
              <a:srgbClr val="2357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4910D-3C9F-4B22-B107-3BA0DCA0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674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MLflow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25571-953D-4196-B415-8FF2D303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68655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171"/>
                </a:solidFill>
              </a:defRPr>
            </a:pPr>
            <a:r>
              <a:rPr sz="1650">
                <a:solidFill>
                  <a:srgbClr val="536171"/>
                </a:solidFill>
              </a:rPr>
              <a:t>Experiment parameters, metrics, model versions, and training artifacts.</a:t>
            </a:r>
          </a:p>
        </p:txBody>
      </p:sp>
      <p:sp>
        <p:nvSpPr>
          <p:cNvPr id="20" name="ops-box-rule">
            <a:extLst xmlns:a="http://schemas.openxmlformats.org/drawingml/2006/main">
              <a:ext uri="{FF2B5EF4-FFF2-40B4-BE49-F238E27FC236}">
                <a16:creationId xmlns:a16="http://schemas.microsoft.com/office/drawing/2014/main" id="{58EE369F-D2F2-4CEC-807B-C549845A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0960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A"/>
          </a:solidFill>
          <a:ln xmlns:a="http://schemas.openxmlformats.org/drawingml/2006/main">
            <a:solidFill>
              <a:srgbClr val="0B6B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8F48B8-1AAA-49B3-B32F-C4C88D1F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2674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Docker + CI/CD + Grafana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54CBE-8DFE-48BD-A1E2-23A04026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68655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171"/>
                </a:solidFill>
              </a:defRPr>
            </a:pPr>
            <a:r>
              <a:rPr sz="1650">
                <a:solidFill>
                  <a:srgbClr val="536171"/>
                </a:solidFill>
              </a:rPr>
              <a:t>Compose stack, Prometheus scrape, Grafana dashboard, GitHub Actions validation.</a:t>
            </a:r>
          </a:p>
        </p:txBody>
      </p:sp>
      <p:sp>
        <p:nvSpPr>
          <p:cNvPr id="2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DDC1BC0-B069-4822-932A-CC703AB2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72600"/>
            <a:ext cx="436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1"/>
                </a:solidFill>
              </a:defRPr>
            </a:pPr>
            <a:r>
              <a:rPr sz="1275">
                <a:solidFill>
                  <a:srgbClr val="536171"/>
                </a:solidFill>
              </a:rPr>
              <a:t>Implementation stack mapped to mandatory MLOps requirements</a:t>
            </a:r>
          </a:p>
        </p:txBody>
      </p:sp>
      <p:sp>
        <p:nvSpPr>
          <p:cNvPr id="24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DEE3C7FB-BFB7-4C10-A63C-2803B351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9467850"/>
            <a:ext cx="3086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1"/>
                </a:solidFill>
              </a:defRPr>
            </a:pPr>
            <a:r>
              <a:rPr sz="1275">
                <a:solidFill>
                  <a:srgbClr val="536171"/>
                </a:solidFill>
              </a:rPr>
              <a:t>Drift-Aware MLOps Pipeline | ACS Income Data</a:t>
            </a:r>
          </a:p>
        </p:txBody>
      </p:sp>
    </p:spTree>
    <p:extLst>
      <p:ext uri="{BB962C8B-B14F-4D97-AF65-F5344CB8AC3E}">
        <p14:creationId xmlns:p14="http://schemas.microsoft.com/office/powerpoint/2010/main" val="12519569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2707EE0-3D38-4BA6-A66E-64B8BE6B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02F4148-1839-4696-A5D1-1B730E96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6B5A"/>
                </a:solidFill>
              </a:defRPr>
            </a:pPr>
            <a:r>
              <a:rPr sz="1350" b="1">
                <a:solidFill>
                  <a:srgbClr val="0B6B5A"/>
                </a:solidFill>
              </a:rPr>
              <a:t>METHODOLOGY UPGRADE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FE77B0-B1C9-40DC-B02C-2F27F833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16014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111827"/>
                </a:solidFill>
              </a:defRPr>
            </a:pPr>
            <a:r>
              <a:rPr sz="4200" b="0">
                <a:solidFill>
                  <a:srgbClr val="111827"/>
                </a:solidFill>
              </a:rPr>
              <a:t>The important change: stop asking the model to learn noise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E3A7E03-AEB6-4CC7-902A-02AD8704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059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Initial label-flip drift created contradictions; final ACS experiments focus on learnable temporal, covariate, and feature-regime shifts.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3BAB5-17CD-489E-965F-4AF17929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809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9654F"/>
                </a:solidFill>
              </a:defRPr>
            </a:pPr>
            <a:r>
              <a:rPr sz="3300" b="1">
                <a:solidFill>
                  <a:srgbClr val="D9654F"/>
                </a:solidFill>
              </a:rPr>
              <a:t>Before</a:t>
            </a:r>
          </a:p>
        </p:txBody>
      </p:sp>
      <p:sp>
        <p:nvSpPr>
          <p:cNvPr id="6" name="step-dot-1">
            <a:extLst xmlns:a="http://schemas.openxmlformats.org/drawingml/2006/main">
              <a:ext uri="{FF2B5EF4-FFF2-40B4-BE49-F238E27FC236}">
                <a16:creationId xmlns:a16="http://schemas.microsoft.com/office/drawing/2014/main" id="{D26389EA-E80F-4A48-B7CD-A995F9CE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4F"/>
          </a:solidFill>
          <a:ln xmlns:a="http://schemas.openxmlformats.org/drawingml/2006/main">
            <a:solidFill>
              <a:srgbClr val="D9654F"/>
            </a:solidFill>
            <a:prstDash val="solid"/>
          </a:ln>
        </p:spPr>
      </p:sp>
      <p:sp>
        <p:nvSpPr>
          <p:cNvPr id="7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60C40D98-7FC8-43B3-9CD4-ED3C811E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24300"/>
            <a:ext cx="746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1. Subgroup label flips</a:t>
            </a:r>
          </a:p>
        </p:txBody>
      </p:sp>
      <p:sp>
        <p:nvSpPr>
          <p:cNvPr id="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22E9DFEC-526E-4F4C-8E8C-449654D9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504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Some income labels were artificially reversed for selected groups.</a:t>
            </a:r>
          </a:p>
        </p:txBody>
      </p:sp>
      <p:sp>
        <p:nvSpPr>
          <p:cNvPr id="9" name="step-dot-2">
            <a:extLst xmlns:a="http://schemas.openxmlformats.org/drawingml/2006/main">
              <a:ext uri="{FF2B5EF4-FFF2-40B4-BE49-F238E27FC236}">
                <a16:creationId xmlns:a16="http://schemas.microsoft.com/office/drawing/2014/main" id="{22B1E185-B55A-4685-93BC-6CE7213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4F"/>
          </a:solidFill>
          <a:ln xmlns:a="http://schemas.openxmlformats.org/drawingml/2006/main">
            <a:solidFill>
              <a:srgbClr val="D9654F"/>
            </a:solidFill>
            <a:prstDash val="solid"/>
          </a:ln>
        </p:spPr>
      </p:sp>
      <p:sp>
        <p:nvSpPr>
          <p:cNvPr id="10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E4F789ED-B371-4459-ACB1-79A25EF1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746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2. Short drift spikes</a:t>
            </a:r>
          </a:p>
        </p:txBody>
      </p:sp>
      <p:sp>
        <p:nvSpPr>
          <p:cNvPr id="11" name="step-body-2">
            <a:extLst xmlns:a="http://schemas.openxmlformats.org/drawingml/2006/main">
              <a:ext uri="{FF2B5EF4-FFF2-40B4-BE49-F238E27FC236}">
                <a16:creationId xmlns:a16="http://schemas.microsoft.com/office/drawing/2014/main" id="{99A188AD-79E1-4F25-A35E-DCCD3BBF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4857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Retraining often adapted to a batch that the next batch did not resemble.</a:t>
            </a:r>
          </a:p>
        </p:txBody>
      </p:sp>
      <p:sp>
        <p:nvSpPr>
          <p:cNvPr id="12" name="step-dot-3">
            <a:extLst xmlns:a="http://schemas.openxmlformats.org/drawingml/2006/main">
              <a:ext uri="{FF2B5EF4-FFF2-40B4-BE49-F238E27FC236}">
                <a16:creationId xmlns:a16="http://schemas.microsoft.com/office/drawing/2014/main" id="{8DDB14BB-8123-444F-A8CF-F7AA1357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4F"/>
          </a:solidFill>
          <a:ln xmlns:a="http://schemas.openxmlformats.org/drawingml/2006/main">
            <a:solidFill>
              <a:srgbClr val="D9654F"/>
            </a:solidFill>
            <a:prstDash val="solid"/>
          </a:ln>
        </p:spPr>
      </p:sp>
      <p:sp>
        <p:nvSpPr>
          <p:cNvPr id="13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ACD4ECD5-BB34-410D-AD70-7AEA88D4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76900"/>
            <a:ext cx="746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3. Low recovery signal</a:t>
            </a:r>
          </a:p>
        </p:txBody>
      </p:sp>
      <p:sp>
        <p:nvSpPr>
          <p:cNvPr id="14" name="step-body-3">
            <a:extLst xmlns:a="http://schemas.openxmlformats.org/drawingml/2006/main">
              <a:ext uri="{FF2B5EF4-FFF2-40B4-BE49-F238E27FC236}">
                <a16:creationId xmlns:a16="http://schemas.microsoft.com/office/drawing/2014/main" id="{41195056-6AB9-4884-87FC-202ADDA4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00750"/>
            <a:ext cx="5314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Static and retrained models stayed close because both faced noisy or unstable targets.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77E4E-CA64-42E8-BAA3-C2C0012D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19450"/>
            <a:ext cx="809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6B5A"/>
                </a:solidFill>
              </a:defRPr>
            </a:pPr>
            <a:r>
              <a:rPr sz="3300" b="1">
                <a:solidFill>
                  <a:srgbClr val="0B6B5A"/>
                </a:solidFill>
              </a:rPr>
              <a:t>After</a:t>
            </a:r>
          </a:p>
        </p:txBody>
      </p:sp>
      <p:sp>
        <p:nvSpPr>
          <p:cNvPr id="16" name="step-dot-1">
            <a:extLst xmlns:a="http://schemas.openxmlformats.org/drawingml/2006/main">
              <a:ext uri="{FF2B5EF4-FFF2-40B4-BE49-F238E27FC236}">
                <a16:creationId xmlns:a16="http://schemas.microsoft.com/office/drawing/2014/main" id="{62BDF12E-D06A-440C-809E-30EAC7F7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243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B5A"/>
          </a:solidFill>
          <a:ln xmlns:a="http://schemas.openxmlformats.org/drawingml/2006/main">
            <a:solidFill>
              <a:srgbClr val="0B6B5A"/>
            </a:solidFill>
            <a:prstDash val="solid"/>
          </a:ln>
        </p:spPr>
      </p:sp>
      <p:sp>
        <p:nvSpPr>
          <p:cNvPr id="17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3787861D-F2BC-44E9-9CE3-1B3B24F2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24300"/>
            <a:ext cx="746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1. Learnable drift regimes</a:t>
            </a:r>
          </a:p>
        </p:txBody>
      </p:sp>
      <p:sp>
        <p:nvSpPr>
          <p:cNvPr id="1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26E5A009-E247-4F43-AF0E-1FDC7D87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48150"/>
            <a:ext cx="5314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Age, hours, occupation, birthplace, and feature-noise shifts across 12 batches.</a:t>
            </a:r>
          </a:p>
        </p:txBody>
      </p:sp>
      <p:sp>
        <p:nvSpPr>
          <p:cNvPr id="19" name="step-dot-2">
            <a:extLst xmlns:a="http://schemas.openxmlformats.org/drawingml/2006/main">
              <a:ext uri="{FF2B5EF4-FFF2-40B4-BE49-F238E27FC236}">
                <a16:creationId xmlns:a16="http://schemas.microsoft.com/office/drawing/2014/main" id="{024BF0DC-ED7D-47BB-8037-0855A385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149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B5A"/>
          </a:solidFill>
          <a:ln xmlns:a="http://schemas.openxmlformats.org/drawingml/2006/main">
            <a:solidFill>
              <a:srgbClr val="0B6B5A"/>
            </a:solidFill>
            <a:prstDash val="solid"/>
          </a:ln>
        </p:spPr>
      </p:sp>
      <p:sp>
        <p:nvSpPr>
          <p:cNvPr id="20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8973D0BB-804E-405F-8931-6263E787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14900"/>
            <a:ext cx="746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2. Rolling retraining</a:t>
            </a:r>
          </a:p>
        </p:txBody>
      </p:sp>
      <p:sp>
        <p:nvSpPr>
          <p:cNvPr id="21" name="step-body-2">
            <a:extLst xmlns:a="http://schemas.openxmlformats.org/drawingml/2006/main">
              <a:ext uri="{FF2B5EF4-FFF2-40B4-BE49-F238E27FC236}">
                <a16:creationId xmlns:a16="http://schemas.microsoft.com/office/drawing/2014/main" id="{E6028037-6B6F-45F5-BF5D-DA412F83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3875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Train on recent batches plus a small historical anchor, instead of unbounded expansion.</a:t>
            </a:r>
          </a:p>
        </p:txBody>
      </p:sp>
      <p:sp>
        <p:nvSpPr>
          <p:cNvPr id="22" name="step-dot-3">
            <a:extLst xmlns:a="http://schemas.openxmlformats.org/drawingml/2006/main">
              <a:ext uri="{FF2B5EF4-FFF2-40B4-BE49-F238E27FC236}">
                <a16:creationId xmlns:a16="http://schemas.microsoft.com/office/drawing/2014/main" id="{86C368D6-5BE3-4500-9A98-1538C535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055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B5A"/>
          </a:solidFill>
          <a:ln xmlns:a="http://schemas.openxmlformats.org/drawingml/2006/main">
            <a:solidFill>
              <a:srgbClr val="0B6B5A"/>
            </a:solidFill>
            <a:prstDash val="solid"/>
          </a:ln>
        </p:spPr>
      </p:sp>
      <p:sp>
        <p:nvSpPr>
          <p:cNvPr id="23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A73EE87F-4494-4616-9DEC-5A662BDF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05500"/>
            <a:ext cx="746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3. Persistence gating</a:t>
            </a:r>
          </a:p>
        </p:txBody>
      </p:sp>
      <p:sp>
        <p:nvSpPr>
          <p:cNvPr id="24" name="step-body-3">
            <a:extLst xmlns:a="http://schemas.openxmlformats.org/drawingml/2006/main">
              <a:ext uri="{FF2B5EF4-FFF2-40B4-BE49-F238E27FC236}">
                <a16:creationId xmlns:a16="http://schemas.microsoft.com/office/drawing/2014/main" id="{F8B69E4F-8E80-47B2-8E49-97809F3A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124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Policy waits for repeated drift/concept signals before replacing the model.</a:t>
            </a:r>
          </a:p>
        </p:txBody>
      </p:sp>
      <p:sp>
        <p:nvSpPr>
          <p:cNvPr id="2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362252C-BA68-4833-89C7-BA886F23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1"/>
                </a:solidFill>
              </a:defRPr>
            </a:pPr>
            <a:r>
              <a:rPr sz="1275">
                <a:solidFill>
                  <a:srgbClr val="536171"/>
                </a:solidFill>
              </a:rPr>
              <a:t>Core methodological correction after noise-drift diagnosis</a:t>
            </a:r>
          </a:p>
        </p:txBody>
      </p:sp>
      <p:sp>
        <p:nvSpPr>
          <p:cNvPr id="26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61AE0BB0-2DB2-4784-BFBC-70964CC9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525000"/>
            <a:ext cx="3086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1"/>
                </a:solidFill>
              </a:defRPr>
            </a:pPr>
            <a:r>
              <a:rPr sz="1275">
                <a:solidFill>
                  <a:srgbClr val="536171"/>
                </a:solidFill>
              </a:rPr>
              <a:t>Drift-Aware MLOps Pipeline | ACS Income Data</a:t>
            </a:r>
          </a:p>
        </p:txBody>
      </p:sp>
    </p:spTree>
    <p:extLst>
      <p:ext uri="{BB962C8B-B14F-4D97-AF65-F5344CB8AC3E}">
        <p14:creationId xmlns:p14="http://schemas.microsoft.com/office/powerpoint/2010/main" val="7346800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201E28E-2BC4-448E-B792-372662DE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>
            <a:solidFill>
              <a:srgbClr val="F8F4EA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38A2676-04D1-4DEF-95D8-650A40ED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6B5A"/>
                </a:solidFill>
              </a:defRPr>
            </a:pPr>
            <a:r>
              <a:rPr sz="1350" b="1">
                <a:solidFill>
                  <a:srgbClr val="0B6B5A"/>
                </a:solidFill>
              </a:rPr>
              <a:t>MAIN ACS RESULT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0DEFA9-6FB3-4E0E-B3E7-B9D4FF16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12966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111827"/>
                </a:solidFill>
              </a:defRPr>
            </a:pPr>
            <a:r>
              <a:rPr sz="4200" b="0">
                <a:solidFill>
                  <a:srgbClr val="111827"/>
                </a:solidFill>
              </a:rPr>
              <a:t>Policy retraining recovered late-regime performance with fewer retrains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42F7CC0-9034-4878-AEAC-58EA2008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059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The adaptive policy closed much of the late-batch degradation while using almost half the retraining events of immediate retraining.</a:t>
            </a:r>
          </a:p>
        </p:txBody>
      </p:sp>
      <p:graphicFrame>
        <p:nvGraphicFramePr>
          <p:cNvPr id="5" name="batch12-chart"/>
          <p:cNvGraphicFramePr/>
          <p:nvPr/>
        </p:nvGraphicFramePr>
        <p:xfrm>
          <a:off xmlns:a="http://schemas.openxmlformats.org/drawingml/2006/main" x="781050" y="3105150"/>
          <a:ext xmlns:a="http://schemas.openxmlformats.org/drawingml/2006/main" cx="8815959" cy="616839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5da586c0dd4487"/>
          </a:graphicData>
        </a:graphic>
      </p:graphicFrame>
      <p:sp>
        <p:nvSpPr>
          <p:cNvPr id="6" name="metric-value-Static final accuracy">
            <a:extLst xmlns:a="http://schemas.openxmlformats.org/drawingml/2006/main">
              <a:ext uri="{FF2B5EF4-FFF2-40B4-BE49-F238E27FC236}">
                <a16:creationId xmlns:a16="http://schemas.microsoft.com/office/drawing/2014/main" id="{343C94AF-E5C3-4588-9561-C016514C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52850"/>
            <a:ext cx="75057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D9654F"/>
                </a:solidFill>
              </a:defRPr>
            </a:pPr>
            <a:r>
              <a:rPr sz="4950" b="1">
                <a:solidFill>
                  <a:srgbClr val="D9654F"/>
                </a:solidFill>
              </a:rPr>
              <a:t>0.730</a:t>
            </a:r>
          </a:p>
        </p:txBody>
      </p:sp>
      <p:sp>
        <p:nvSpPr>
          <p:cNvPr id="7" name="metric-label-Static final accuracy">
            <a:extLst xmlns:a="http://schemas.openxmlformats.org/drawingml/2006/main">
              <a:ext uri="{FF2B5EF4-FFF2-40B4-BE49-F238E27FC236}">
                <a16:creationId xmlns:a16="http://schemas.microsoft.com/office/drawing/2014/main" id="{A6014327-D4C6-4D6C-9BA0-B233C112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52950"/>
            <a:ext cx="7505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STATIC FINAL ACCURACY</a:t>
            </a:r>
          </a:p>
        </p:txBody>
      </p:sp>
      <p:sp>
        <p:nvSpPr>
          <p:cNvPr id="8" name="metric-note-Static final accuracy">
            <a:extLst xmlns:a="http://schemas.openxmlformats.org/drawingml/2006/main">
              <a:ext uri="{FF2B5EF4-FFF2-40B4-BE49-F238E27FC236}">
                <a16:creationId xmlns:a16="http://schemas.microsoft.com/office/drawing/2014/main" id="{F9B58A81-A28E-4AC2-A6A4-6CA5FD99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81550"/>
            <a:ext cx="2838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171"/>
                </a:solidFill>
              </a:defRPr>
            </a:pPr>
            <a:r>
              <a:rPr sz="1425">
                <a:solidFill>
                  <a:srgbClr val="536171"/>
                </a:solidFill>
              </a:rPr>
              <a:t>Baseline remains locked to the original regime.</a:t>
            </a:r>
          </a:p>
        </p:txBody>
      </p:sp>
      <p:sp>
        <p:nvSpPr>
          <p:cNvPr id="9" name="metric-value-Policy final accuracy">
            <a:extLst xmlns:a="http://schemas.openxmlformats.org/drawingml/2006/main">
              <a:ext uri="{FF2B5EF4-FFF2-40B4-BE49-F238E27FC236}">
                <a16:creationId xmlns:a16="http://schemas.microsoft.com/office/drawing/2014/main" id="{C7146ABF-EA9E-48FA-AABF-A962FC35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48300"/>
            <a:ext cx="75057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B6B5A"/>
                </a:solidFill>
              </a:defRPr>
            </a:pPr>
            <a:r>
              <a:rPr sz="4950" b="1">
                <a:solidFill>
                  <a:srgbClr val="0B6B5A"/>
                </a:solidFill>
              </a:rPr>
              <a:t>0.783</a:t>
            </a:r>
          </a:p>
        </p:txBody>
      </p:sp>
      <p:sp>
        <p:nvSpPr>
          <p:cNvPr id="10" name="metric-label-Policy final accuracy">
            <a:extLst xmlns:a="http://schemas.openxmlformats.org/drawingml/2006/main">
              <a:ext uri="{FF2B5EF4-FFF2-40B4-BE49-F238E27FC236}">
                <a16:creationId xmlns:a16="http://schemas.microsoft.com/office/drawing/2014/main" id="{DA7AF6A0-A3E1-4E0D-8CCD-601D9501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67450"/>
            <a:ext cx="7505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POLICY FINAL ACCURACY</a:t>
            </a:r>
          </a:p>
        </p:txBody>
      </p:sp>
      <p:sp>
        <p:nvSpPr>
          <p:cNvPr id="11" name="metric-note-Policy final accuracy">
            <a:extLst xmlns:a="http://schemas.openxmlformats.org/drawingml/2006/main">
              <a:ext uri="{FF2B5EF4-FFF2-40B4-BE49-F238E27FC236}">
                <a16:creationId xmlns:a16="http://schemas.microsoft.com/office/drawing/2014/main" id="{A21075DE-C512-4BEB-A036-EB98DE6D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96050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171"/>
                </a:solidFill>
              </a:defRPr>
            </a:pPr>
            <a:r>
              <a:rPr sz="1425">
                <a:solidFill>
                  <a:srgbClr val="536171"/>
                </a:solidFill>
              </a:rPr>
              <a:t>Adaptive model recovers under sustained drift.</a:t>
            </a:r>
          </a:p>
        </p:txBody>
      </p:sp>
      <p:sp>
        <p:nvSpPr>
          <p:cNvPr id="12" name="metric-value-Retrains avoided">
            <a:extLst xmlns:a="http://schemas.openxmlformats.org/drawingml/2006/main">
              <a:ext uri="{FF2B5EF4-FFF2-40B4-BE49-F238E27FC236}">
                <a16:creationId xmlns:a16="http://schemas.microsoft.com/office/drawing/2014/main" id="{1FA6F2F3-A50C-455D-B66D-A9ABA850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162800"/>
            <a:ext cx="75057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357A6"/>
                </a:solidFill>
              </a:defRPr>
            </a:pPr>
            <a:r>
              <a:rPr sz="4950" b="1">
                <a:solidFill>
                  <a:srgbClr val="2357A6"/>
                </a:solidFill>
              </a:rPr>
              <a:t>5 fewer</a:t>
            </a:r>
          </a:p>
        </p:txBody>
      </p:sp>
      <p:sp>
        <p:nvSpPr>
          <p:cNvPr id="13" name="metric-label-Retrains avoided">
            <a:extLst xmlns:a="http://schemas.openxmlformats.org/drawingml/2006/main">
              <a:ext uri="{FF2B5EF4-FFF2-40B4-BE49-F238E27FC236}">
                <a16:creationId xmlns:a16="http://schemas.microsoft.com/office/drawing/2014/main" id="{B75F0766-21FF-4AEB-9E87-105D4340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962900"/>
            <a:ext cx="7505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RETRAINS AVOIDED</a:t>
            </a:r>
          </a:p>
        </p:txBody>
      </p:sp>
      <p:sp>
        <p:nvSpPr>
          <p:cNvPr id="14" name="metric-note-Retrains avoided">
            <a:extLst xmlns:a="http://schemas.openxmlformats.org/drawingml/2006/main">
              <a:ext uri="{FF2B5EF4-FFF2-40B4-BE49-F238E27FC236}">
                <a16:creationId xmlns:a16="http://schemas.microsoft.com/office/drawing/2014/main" id="{2CCA98DF-67F2-440B-B319-6617A206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91500"/>
            <a:ext cx="2971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171"/>
                </a:solidFill>
              </a:defRPr>
            </a:pPr>
            <a:r>
              <a:rPr sz="1425">
                <a:solidFill>
                  <a:srgbClr val="536171"/>
                </a:solidFill>
              </a:rPr>
              <a:t>Policy retrained 6 times vs 11 immediate retrains.</a:t>
            </a:r>
          </a:p>
        </p:txBody>
      </p:sp>
      <p:sp>
        <p:nvSpPr>
          <p:cNvPr id="1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1738B15-8708-4027-BE46-D18BB687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6310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1"/>
                </a:solidFill>
              </a:defRPr>
            </a:pPr>
            <a:r>
              <a:rPr sz="1275">
                <a:solidFill>
                  <a:srgbClr val="536171"/>
                </a:solidFill>
              </a:rPr>
              <a:t>Source: reports/results_acs.md</a:t>
            </a:r>
          </a:p>
        </p:txBody>
      </p:sp>
      <p:sp>
        <p:nvSpPr>
          <p:cNvPr id="16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E0DAC645-4944-44A8-8F6B-7C8426D6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9563100"/>
            <a:ext cx="3086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1"/>
                </a:solidFill>
              </a:defRPr>
            </a:pPr>
            <a:r>
              <a:rPr sz="1275">
                <a:solidFill>
                  <a:srgbClr val="536171"/>
                </a:solidFill>
              </a:rPr>
              <a:t>Drift-Aware MLOps Pipeline | ACS Income Data</a:t>
            </a:r>
          </a:p>
        </p:txBody>
      </p:sp>
    </p:spTree>
    <p:extLst>
      <p:ext uri="{BB962C8B-B14F-4D97-AF65-F5344CB8AC3E}">
        <p14:creationId xmlns:p14="http://schemas.microsoft.com/office/powerpoint/2010/main" val="14776377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3735C22-4635-41E2-8732-230B7080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57E4BCAD-E3E9-4286-9C47-38AB547B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6B5A"/>
                </a:solidFill>
              </a:defRPr>
            </a:pPr>
            <a:r>
              <a:rPr sz="1350" b="1">
                <a:solidFill>
                  <a:srgbClr val="0B6B5A"/>
                </a:solidFill>
              </a:rPr>
              <a:t>WHY RETRAINING SOMETIMES FAILED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456EE2-D72A-4DF3-A9EB-7AA3A218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13919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111827"/>
                </a:solidFill>
              </a:defRPr>
            </a:pPr>
            <a:r>
              <a:rPr sz="4200" b="0">
                <a:solidFill>
                  <a:srgbClr val="111827"/>
                </a:solidFill>
              </a:rPr>
              <a:t>Retraining helps only when the new batch contains a learnable regime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7E9C32-41CE-4DD0-9FC3-1A27E262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0858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Noise ablation separated real shift from subgroup label-flip stress, explaining why the earliest experiment looked flat.</a:t>
            </a:r>
          </a:p>
        </p:txBody>
      </p:sp>
      <p:pic>
        <p:nvPicPr>
          <p:cNvPr id="5" name="mean-f1-abla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e5c0162084783"/>
          <a:stretch xmlns:a="http://schemas.openxmlformats.org/drawingml/2006/main"/>
        </p:blipFill>
        <p:spPr>
          <a:xfrm xmlns:a="http://schemas.openxmlformats.org/drawingml/2006/main">
            <a:off x="781050" y="4044315"/>
            <a:ext cx="81915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CC4E4-FC4A-4D61-B8E4-18ABD10F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67200"/>
            <a:ext cx="8191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11827"/>
                </a:solidFill>
              </a:defRPr>
            </a:pPr>
            <a:r>
              <a:rPr sz="3300">
                <a:solidFill>
                  <a:srgbClr val="111827"/>
                </a:solidFill>
              </a:rPr>
              <a:t>Interpretation</a:t>
            </a:r>
          </a:p>
        </p:txBody>
      </p:sp>
      <p:sp>
        <p:nvSpPr>
          <p:cNvPr id="7" name="step-dot-1">
            <a:extLst xmlns:a="http://schemas.openxmlformats.org/drawingml/2006/main">
              <a:ext uri="{FF2B5EF4-FFF2-40B4-BE49-F238E27FC236}">
                <a16:creationId xmlns:a16="http://schemas.microsoft.com/office/drawing/2014/main" id="{C90728DD-C2CE-44E3-B15D-32E35C32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292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4F"/>
          </a:solidFill>
          <a:ln xmlns:a="http://schemas.openxmlformats.org/drawingml/2006/main">
            <a:solidFill>
              <a:srgbClr val="D9654F"/>
            </a:solidFill>
            <a:prstDash val="solid"/>
          </a:ln>
        </p:spPr>
      </p:sp>
      <p:sp>
        <p:nvSpPr>
          <p:cNvPr id="8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FEB18C66-841C-492C-8945-C0E9EB28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04825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1. Label flips are not a stable concept</a:t>
            </a:r>
          </a:p>
        </p:txBody>
      </p:sp>
      <p:sp>
        <p:nvSpPr>
          <p:cNvPr id="9" name="step-body-1">
            <a:extLst xmlns:a="http://schemas.openxmlformats.org/drawingml/2006/main">
              <a:ext uri="{FF2B5EF4-FFF2-40B4-BE49-F238E27FC236}">
                <a16:creationId xmlns:a16="http://schemas.microsoft.com/office/drawing/2014/main" id="{79E3E0CD-D931-4B3F-9461-D9906AE1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372100"/>
            <a:ext cx="4648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They inject contradictions into the target, so a model cannot generalize the new rule.</a:t>
            </a:r>
          </a:p>
        </p:txBody>
      </p:sp>
      <p:sp>
        <p:nvSpPr>
          <p:cNvPr id="10" name="step-dot-2">
            <a:extLst xmlns:a="http://schemas.openxmlformats.org/drawingml/2006/main">
              <a:ext uri="{FF2B5EF4-FFF2-40B4-BE49-F238E27FC236}">
                <a16:creationId xmlns:a16="http://schemas.microsoft.com/office/drawing/2014/main" id="{45C7EB12-1D19-406F-961F-17670EFC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0960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57A6"/>
          </a:solidFill>
          <a:ln xmlns:a="http://schemas.openxmlformats.org/drawingml/2006/main">
            <a:solidFill>
              <a:srgbClr val="2357A6"/>
            </a:solidFill>
            <a:prstDash val="solid"/>
          </a:ln>
        </p:spPr>
      </p:sp>
      <p:sp>
        <p:nvSpPr>
          <p:cNvPr id="11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C5F3CBDA-BDB5-49C2-AE37-1C336B82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09600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2. Sliding windows matter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72C5CBCE-1D5F-4420-8B90-853F6099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19850"/>
            <a:ext cx="5105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Recent data dominates adaptation; old data should not drown out the current regime.</a:t>
            </a:r>
          </a:p>
        </p:txBody>
      </p:sp>
      <p:sp>
        <p:nvSpPr>
          <p:cNvPr id="13" name="step-dot-3">
            <a:extLst xmlns:a="http://schemas.openxmlformats.org/drawingml/2006/main">
              <a:ext uri="{FF2B5EF4-FFF2-40B4-BE49-F238E27FC236}">
                <a16:creationId xmlns:a16="http://schemas.microsoft.com/office/drawing/2014/main" id="{F21BA0D2-C7D0-44D8-92E6-3B6BC24E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1247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B5A"/>
          </a:solidFill>
          <a:ln xmlns:a="http://schemas.openxmlformats.org/drawingml/2006/main">
            <a:solidFill>
              <a:srgbClr val="0B6B5A"/>
            </a:solidFill>
            <a:prstDash val="solid"/>
          </a:ln>
        </p:spPr>
      </p:sp>
      <p:sp>
        <p:nvSpPr>
          <p:cNvPr id="14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2E57962E-0BAE-441E-AE34-F453420C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14375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3. The final result is conditional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1E436E76-0652-4E0F-BE45-56690D64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467600"/>
            <a:ext cx="5295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Adaptive retraining is valuable when drift is persistent and learnable.</a:t>
            </a:r>
          </a:p>
        </p:txBody>
      </p:sp>
      <p:sp>
        <p:nvSpPr>
          <p:cNvPr id="1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AECDEC3-A391-4023-893D-D937B295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72600"/>
            <a:ext cx="2495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1"/>
                </a:solidFill>
              </a:defRPr>
            </a:pPr>
            <a:r>
              <a:rPr sz="1275">
                <a:solidFill>
                  <a:srgbClr val="536171"/>
                </a:solidFill>
              </a:rPr>
              <a:t>Noise ablation and regime diagnostics</a:t>
            </a:r>
          </a:p>
        </p:txBody>
      </p:sp>
      <p:sp>
        <p:nvSpPr>
          <p:cNvPr id="17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B4D0B11D-7049-4E29-B564-FDB467FF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9467850"/>
            <a:ext cx="3086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1"/>
                </a:solidFill>
              </a:defRPr>
            </a:pPr>
            <a:r>
              <a:rPr sz="1275">
                <a:solidFill>
                  <a:srgbClr val="536171"/>
                </a:solidFill>
              </a:rPr>
              <a:t>Drift-Aware MLOps Pipeline | ACS Income Data</a:t>
            </a:r>
          </a:p>
        </p:txBody>
      </p:sp>
    </p:spTree>
    <p:extLst>
      <p:ext uri="{BB962C8B-B14F-4D97-AF65-F5344CB8AC3E}">
        <p14:creationId xmlns:p14="http://schemas.microsoft.com/office/powerpoint/2010/main" val="1836208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BB296C3-BDEE-48C2-BDFD-B2CCE754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>
            <a:solidFill>
              <a:srgbClr val="1020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C40FE-C336-4615-A10E-9CF012E9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3D3"/>
                </a:solidFill>
              </a:defRPr>
            </a:pPr>
            <a:r>
              <a:rPr sz="1350" b="1">
                <a:solidFill>
                  <a:srgbClr val="B8E3D3"/>
                </a:solidFill>
              </a:rPr>
              <a:t>PRODUCTION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50848-E84D-4D75-90E4-C38EF8C6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06489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>
                <a:solidFill>
                  <a:srgbClr val="FFFFFF"/>
                </a:solidFill>
              </a:defRPr>
            </a:pPr>
            <a:r>
              <a:rPr sz="4200">
                <a:solidFill>
                  <a:srgbClr val="FFFFFF"/>
                </a:solidFill>
              </a:rPr>
              <a:t>The pipeline is demonstrable as a running MLOps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59CF9-EBDB-48F3-8609-E105C294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022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C5D4E3"/>
                </a:solidFill>
              </a:defRPr>
            </a:pPr>
            <a:r>
              <a:rPr sz="1875">
                <a:solidFill>
                  <a:srgbClr val="C5D4E3"/>
                </a:solidFill>
              </a:rPr>
              <a:t>This is the part to show live: FastAPI, MLflow, Prometheus, Grafana, Docker Compose, and GitHub Actions.</a:t>
            </a:r>
          </a:p>
        </p:txBody>
      </p:sp>
      <p:sp>
        <p:nvSpPr>
          <p:cNvPr id="5" name="fastapi-rule">
            <a:extLst xmlns:a="http://schemas.openxmlformats.org/drawingml/2006/main">
              <a:ext uri="{FF2B5EF4-FFF2-40B4-BE49-F238E27FC236}">
                <a16:creationId xmlns:a16="http://schemas.microsoft.com/office/drawing/2014/main" id="{B4A527F5-67AE-4765-A273-5D88C9B1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3D3"/>
          </a:solidFill>
          <a:ln xmlns:a="http://schemas.openxmlformats.org/drawingml/2006/main">
            <a:solidFill>
              <a:srgbClr val="B8E3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B38F8-40F4-491F-ABA5-BDE8DB73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493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BCFA5-1FEF-4DDE-8B39-435218D4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493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5D4E3"/>
                </a:solidFill>
              </a:defRPr>
            </a:pPr>
            <a:r>
              <a:rPr sz="1575">
                <a:solidFill>
                  <a:srgbClr val="C5D4E3"/>
                </a:solidFill>
              </a:rPr>
              <a:t>/predict, /health, /metrics, reload-model.</a:t>
            </a:r>
          </a:p>
        </p:txBody>
      </p:sp>
      <p:sp>
        <p:nvSpPr>
          <p:cNvPr id="8" name="mlflow-rule">
            <a:extLst xmlns:a="http://schemas.openxmlformats.org/drawingml/2006/main">
              <a:ext uri="{FF2B5EF4-FFF2-40B4-BE49-F238E27FC236}">
                <a16:creationId xmlns:a16="http://schemas.microsoft.com/office/drawing/2014/main" id="{18250B6D-4A27-442C-A143-D3002964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8FF"/>
          </a:solidFill>
          <a:ln xmlns:a="http://schemas.openxmlformats.org/drawingml/2006/main">
            <a:solidFill>
              <a:srgbClr val="BBD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78353-01C1-4271-ADD8-0CF1AE3D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493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MLflow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2F327-D00C-4866-88DC-67D92994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493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5D4E3"/>
                </a:solidFill>
              </a:defRPr>
            </a:pPr>
            <a:r>
              <a:rPr sz="1575">
                <a:solidFill>
                  <a:srgbClr val="C5D4E3"/>
                </a:solidFill>
              </a:rPr>
              <a:t>Params, metrics, model artifacts, run history.</a:t>
            </a:r>
          </a:p>
        </p:txBody>
      </p:sp>
      <p:sp>
        <p:nvSpPr>
          <p:cNvPr id="11" name="docker-rule">
            <a:extLst xmlns:a="http://schemas.openxmlformats.org/drawingml/2006/main">
              <a:ext uri="{FF2B5EF4-FFF2-40B4-BE49-F238E27FC236}">
                <a16:creationId xmlns:a16="http://schemas.microsoft.com/office/drawing/2014/main" id="{6C6CF7F2-F052-4826-BBA5-B0C84814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0480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538"/>
          </a:solidFill>
          <a:ln xmlns:a="http://schemas.openxmlformats.org/drawingml/2006/main">
            <a:solidFill>
              <a:srgbClr val="E7A5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AD2B0-7AB4-4F13-BCA4-74E37B28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238500"/>
            <a:ext cx="493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6DF4C-7F99-4B65-8CB9-F23BBF60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695700"/>
            <a:ext cx="493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5D4E3"/>
                </a:solidFill>
              </a:defRPr>
            </a:pPr>
            <a:r>
              <a:rPr sz="1575">
                <a:solidFill>
                  <a:srgbClr val="C5D4E3"/>
                </a:solidFill>
              </a:rPr>
              <a:t>API, MLflow, Prometheus, Grafana stack.</a:t>
            </a:r>
          </a:p>
        </p:txBody>
      </p:sp>
      <p:sp>
        <p:nvSpPr>
          <p:cNvPr id="14" name="prom-rule">
            <a:extLst xmlns:a="http://schemas.openxmlformats.org/drawingml/2006/main">
              <a:ext uri="{FF2B5EF4-FFF2-40B4-BE49-F238E27FC236}">
                <a16:creationId xmlns:a16="http://schemas.microsoft.com/office/drawing/2014/main" id="{F8B03AEC-A29E-487F-8AC6-D20AF70A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24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54F"/>
          </a:solidFill>
          <a:ln xmlns:a="http://schemas.openxmlformats.org/drawingml/2006/main">
            <a:solidFill>
              <a:srgbClr val="D965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B63FA-9C1E-4C2A-8A62-43D0E9A7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515100"/>
            <a:ext cx="493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5ACB9-49D2-4CFF-B769-E124B884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72300"/>
            <a:ext cx="493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5D4E3"/>
                </a:solidFill>
              </a:defRPr>
            </a:pPr>
            <a:r>
              <a:rPr sz="1575">
                <a:solidFill>
                  <a:srgbClr val="C5D4E3"/>
                </a:solidFill>
              </a:rPr>
              <a:t>Latency, request count, model version, drift metrics.</a:t>
            </a:r>
          </a:p>
        </p:txBody>
      </p:sp>
      <p:sp>
        <p:nvSpPr>
          <p:cNvPr id="17" name="grafana-rule">
            <a:extLst xmlns:a="http://schemas.openxmlformats.org/drawingml/2006/main">
              <a:ext uri="{FF2B5EF4-FFF2-40B4-BE49-F238E27FC236}">
                <a16:creationId xmlns:a16="http://schemas.microsoft.com/office/drawing/2014/main" id="{D6119672-3A59-4D21-8AFC-CD8FAC48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324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3D3"/>
          </a:solidFill>
          <a:ln xmlns:a="http://schemas.openxmlformats.org/drawingml/2006/main">
            <a:solidFill>
              <a:srgbClr val="B8E3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29A83-D65F-412D-B127-AF6CD677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93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E50B2-C5EF-42A3-8D0D-C1A48CFB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972300"/>
            <a:ext cx="493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5D4E3"/>
                </a:solidFill>
              </a:defRPr>
            </a:pPr>
            <a:r>
              <a:rPr sz="1575">
                <a:solidFill>
                  <a:srgbClr val="C5D4E3"/>
                </a:solidFill>
              </a:rPr>
              <a:t>Dashboard for operational model monitoring.</a:t>
            </a:r>
          </a:p>
        </p:txBody>
      </p:sp>
      <p:sp>
        <p:nvSpPr>
          <p:cNvPr id="20" name="ci-rule">
            <a:extLst xmlns:a="http://schemas.openxmlformats.org/drawingml/2006/main">
              <a:ext uri="{FF2B5EF4-FFF2-40B4-BE49-F238E27FC236}">
                <a16:creationId xmlns:a16="http://schemas.microsoft.com/office/drawing/2014/main" id="{AB192A6F-1548-4A04-929F-3D055108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324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8FF"/>
          </a:solidFill>
          <a:ln xmlns:a="http://schemas.openxmlformats.org/drawingml/2006/main">
            <a:solidFill>
              <a:srgbClr val="BBD8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00A2C-B181-4E24-B326-53B4B402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515100"/>
            <a:ext cx="493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GitHub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FF49AB-AD08-4B25-BEAF-80086FB9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972300"/>
            <a:ext cx="493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5D4E3"/>
                </a:solidFill>
              </a:defRPr>
            </a:pPr>
            <a:r>
              <a:rPr sz="1575">
                <a:solidFill>
                  <a:srgbClr val="C5D4E3"/>
                </a:solidFill>
              </a:rPr>
              <a:t>Lint, tests, compile checks, Docker validation/build.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AE874-868C-4D49-8F52-BB3BB8A6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63100"/>
            <a:ext cx="5638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7C9DD"/>
                </a:solidFill>
              </a:defRPr>
            </a:pPr>
            <a:r>
              <a:rPr sz="1350">
                <a:solidFill>
                  <a:srgbClr val="B7C9DD"/>
                </a:solidFill>
              </a:rPr>
              <a:t>Live demo URLs: :8080/docs | :5000 MLflow | :9090 Prometheus | :3000 Grafana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1386D-620D-4666-96EE-99929236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9563100"/>
            <a:ext cx="1600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7C9DD"/>
                </a:solidFill>
              </a:defRPr>
            </a:pPr>
            <a:r>
              <a:rPr sz="1275">
                <a:solidFill>
                  <a:srgbClr val="B7C9DD"/>
                </a:solidFill>
              </a:rPr>
              <a:t>MLOps stack verification</a:t>
            </a:r>
          </a:p>
        </p:txBody>
      </p:sp>
    </p:spTree>
    <p:extLst>
      <p:ext uri="{BB962C8B-B14F-4D97-AF65-F5344CB8AC3E}">
        <p14:creationId xmlns:p14="http://schemas.microsoft.com/office/powerpoint/2010/main" val="903243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2026-05-06T18:37:43.0620000Z</dcterms:created>
  <dcterms:modified xsi:type="dcterms:W3CDTF">2026-05-06T18:37:43.0620000Z</dcterms:modified>
</coreProperties>
</file>